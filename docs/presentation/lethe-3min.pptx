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41F5E1-330F-442E-A8D2-AFAD4E6960F5}" type="datetimeFigureOut">
              <a:rPr lang="en-GB" smtClean="0"/>
              <a:t>13/10/2026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CD0720-96D2-42D2-AFAB-76A399CA16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48488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0:00–0:15 A life becomes a garden</a:t>
            </a:r>
          </a:p>
          <a:p>
            <a:endParaRPr lang="en-GB"/>
          </a:p>
          <a:p>
            <a:r>
              <a:rPr lang="en-GB"/>
              <a:t>I built Lethe: a garden where memories become flowers.</a:t>
            </a:r>
          </a:p>
          <a:p>
            <a:endParaRPr lang="en-GB"/>
          </a:p>
          <a:p>
            <a:r>
              <a:rPr lang="en-GB"/>
              <a:t>Stand still for the opening. Look at the audience. Let the picture settle before speaking.</a:t>
            </a:r>
          </a:p>
          <a:p>
            <a:endParaRPr lang="en-GB"/>
          </a:p>
          <a:p>
            <a:r>
              <a:rPr lang="en-GB"/>
              <a:t>Source: Lethe project reference captures in docs/presentation/assets/garden.png. The example life is fictional. Verify the actual episode outcome before presenting.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CD0720-96D2-42D2-AFAB-76A399CA16D2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2862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0:15–0:30 A memory of your own</a:t>
            </a:r>
          </a:p>
          <a:p>
            <a:endParaRPr lang="en-GB"/>
          </a:p>
          <a:p>
            <a:r>
              <a:rPr lang="en-GB"/>
              <a:t>Think of one memory. Keep it to yourself. Is it a sentence, a song, a place, or a photograph?</a:t>
            </a:r>
          </a:p>
          <a:p>
            <a:endParaRPr lang="en-GB"/>
          </a:p>
          <a:p>
            <a:r>
              <a:rPr lang="en-GB"/>
              <a:t>Leave five seconds for thought. Choose a kind if someone volunteers one. Never ask for a personal 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CD0720-96D2-42D2-AFAB-76A399CA16D2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90158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0:30–0:50 Grandma Mei’s words</a:t>
            </a:r>
          </a:p>
          <a:p>
            <a:endParaRPr lang="en-GB"/>
          </a:p>
          <a:p>
            <a:r>
              <a:rPr lang="en-GB"/>
              <a:t>In this fictional life, Grandma Mei said, “You don’t have to be brave all the time.” Her kitchen and music share the same person, so threads join them.</a:t>
            </a:r>
          </a:p>
          <a:p>
            <a:endParaRPr lang="en-GB"/>
          </a:p>
          <a:p>
            <a:r>
              <a:rPr lang="en-GB"/>
              <a:t>Read the quote warmly. Pause. Move your gaze from the flower to the audience rather than reading every label.</a:t>
            </a:r>
          </a:p>
          <a:p>
            <a:endParaRPr lang="en-GB"/>
          </a:p>
          <a:p>
            <a:r>
              <a:rPr lang="en-GB"/>
              <a:t>Source: Lethe project reference captures in docs/presentation/assets/memory.png. The example life is fictional. Verify the actual episode outcome before presenting.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CD0720-96D2-42D2-AFAB-76A399CA16D2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52624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0:50–1:10 One light and your choice</a:t>
            </a:r>
          </a:p>
          <a:p>
            <a:endParaRPr lang="en-GB"/>
          </a:p>
          <a:p>
            <a:r>
              <a:rPr lang="en-GB"/>
              <a:t>One light remains. Grandma Mei’s words, or the library rooftop? Raise a hand. Let’s take your choice into the garden.</a:t>
            </a:r>
          </a:p>
          <a:p>
            <a:endParaRPr lang="en-GB"/>
          </a:p>
          <a:p>
            <a:r>
              <a:rPr lang="en-GB"/>
              <a:t>Ask for raised hands once, then stop talking. Carry the room's choice into the live garden. Either answer is meaningful. If the room stays quiet, choose Grandma Mei and proceed.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CD0720-96D2-42D2-AFAB-76A399CA16D2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55670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1:10–2:10 The living garden</a:t>
            </a:r>
          </a:p>
          <a:p>
            <a:endParaRPr lang="en-GB"/>
          </a:p>
          <a:p>
            <a:r>
              <a:rPr lang="en-GB"/>
              <a:t>Watch where the care travels. I’ll plant a fragment, then let a season pass.</a:t>
            </a:r>
          </a:p>
          <a:p>
            <a:endParaRPr lang="en-GB"/>
          </a:p>
          <a:p>
            <a:r>
              <a:rPr lang="en-GB"/>
              <a:t>Click open the garden. Switch back to PowerPoint after the live visit. Allow 90 seconds in the showcase or 60 seconds in the three-minute cut. Open your local recording separately if needed, and explain that its route follows a fixed choice.</a:t>
            </a:r>
          </a:p>
          <a:p>
            <a:endParaRPr lang="en-GB"/>
          </a:p>
          <a:p>
            <a:r>
              <a:rPr lang="en-GB"/>
              <a:t>Source: Lethe project reference captures in docs/presentation/assets/first-thread.png. The example life is fictional. Verify the actual episode outcome before presenting.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CD0720-96D2-42D2-AFAB-76A399CA16D2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0060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2:10–2:25 The quiet space</a:t>
            </a:r>
          </a:p>
          <a:p>
            <a:endParaRPr lang="en-GB"/>
          </a:p>
          <a:p>
            <a:r>
              <a:rPr lang="en-GB"/>
              <a:t>A seed remains. Its words are still there. We can return later. For now, leave this space quiet.</a:t>
            </a:r>
          </a:p>
          <a:p>
            <a:endParaRPr lang="en-GB"/>
          </a:p>
          <a:p>
            <a:r>
              <a:rPr lang="en-GB"/>
              <a:t>Hold four seconds of silence. If the room kept the rooftop alive, discuss another actual lost seed or loss in general. Do not claim their rooftop disappeared.</a:t>
            </a:r>
          </a:p>
          <a:p>
            <a:endParaRPr lang="en-GB"/>
          </a:p>
          <a:p>
            <a:r>
              <a:rPr lang="en-GB"/>
              <a:t>Source: Lethe project reference captures in docs/presentation/assets/loss.png. The example life is fictional. Verify the actual episode outcome before presenting.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CD0720-96D2-42D2-AFAB-76A399CA16D2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86955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2:25–2:45 What holds this life</a:t>
            </a:r>
          </a:p>
          <a:p>
            <a:endParaRPr lang="en-GB"/>
          </a:p>
          <a:p>
            <a:r>
              <a:rPr lang="en-GB"/>
              <a:t>The garden reveals the people and places holding this life together. A different choice can leave a different shape.</a:t>
            </a:r>
          </a:p>
          <a:p>
            <a:endParaRPr lang="en-GB"/>
          </a:p>
          <a:p>
            <a:r>
              <a:rPr lang="en-GB"/>
              <a:t>Click once to reveal the relationship names after the picture settles. Keep your voice quieter than at the opening.</a:t>
            </a:r>
          </a:p>
          <a:p>
            <a:endParaRPr lang="en-GB"/>
          </a:p>
          <a:p>
            <a:r>
              <a:rPr lang="en-GB"/>
              <a:t>Source: Lethe project reference captures in docs/presentation/assets/reveal.png. The example life is fictional. Verify the actual episode outcome before presenting.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CD0720-96D2-42D2-AFAB-76A399CA16D2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28945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2:45–3:00 What will you carry</a:t>
            </a:r>
          </a:p>
          <a:p>
            <a:endParaRPr lang="en-GB"/>
          </a:p>
          <a:p>
            <a:r>
              <a:rPr lang="en-GB"/>
              <a:t>You cannot keep every moment in bloom. What you tend gives the garden its shape. Try Lethe, and plant a memory of your own.</a:t>
            </a:r>
          </a:p>
          <a:p>
            <a:endParaRPr lang="en-GB"/>
          </a:p>
          <a:p>
            <a:r>
              <a:rPr lang="en-GB"/>
              <a:t>End on the audience’s own imagined memory. Say the invitation once. Hold the final view.</a:t>
            </a:r>
          </a:p>
          <a:p>
            <a:endParaRPr lang="en-GB"/>
          </a:p>
          <a:p>
            <a:r>
              <a:rPr lang="en-GB"/>
              <a:t>Source: Lethe project reference captures in docs/presentation/assets/dusk.png. The example life is fictional. Verify the actual episode outcome before presenting.</a:t>
            </a:r>
          </a:p>
          <a:p>
            <a:endParaRPr lang="en-GB"/>
          </a:p>
          <a:p>
            <a:r>
              <a:rPr lang="en-GB"/>
              <a:t>Invite the audience to try Lethe at the site link on the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CD0720-96D2-42D2-AFAB-76A399CA16D2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921527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65E1C-40AF-4E4F-ADEA-61CA9A09C7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FCDD13-9EE7-4132-A6CC-BF28DE979E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FDFAD9-E393-47E5-BDC8-661B466C2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6131A-4E47-4E44-9A4E-878F4F900A96}" type="datetimeFigureOut">
              <a:rPr lang="en-GB" smtClean="0"/>
              <a:t>13/10/2026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9F3506-6227-46B9-8D4C-20F0C1DE9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B1D839-9E67-49A0-9DB3-54B343657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F01C0-1D36-4705-BFFF-9D4A09C5B0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7335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A8303-584F-4D43-B114-DD6726412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98ECAF-9899-494D-8AFB-B6BB61F817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C9631B-130E-401C-8878-105DF46F6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6131A-4E47-4E44-9A4E-878F4F900A96}" type="datetimeFigureOut">
              <a:rPr lang="en-GB" smtClean="0"/>
              <a:t>13/10/2026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2C881A-C1B2-4DAA-A74C-C50B0C471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44ECBA-8C0F-4529-A4EA-9AAF0910F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F01C0-1D36-4705-BFFF-9D4A09C5B0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97637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2AC3F-AD27-4BA7-89E2-917465363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959C19-D523-4FC3-8975-DE7FB5543C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0B6DAF-2D9B-4304-8D47-6F16CB386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6131A-4E47-4E44-9A4E-878F4F900A96}" type="datetimeFigureOut">
              <a:rPr lang="en-GB" smtClean="0"/>
              <a:t>13/10/2026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F4F666-FBE4-49BE-8492-729962D733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B1DFBD-8ACC-4F46-A32D-CCA1C2BA7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F01C0-1D36-4705-BFFF-9D4A09C5B0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6121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D906C-5FA0-4E73-9609-166EF4FA0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1CE17-C03E-4B53-AF3D-569EEA50FE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CE4896-4130-4505-BDFB-BBE000540A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80CCB6-2EE1-4826-AAF4-13131162F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6131A-4E47-4E44-9A4E-878F4F900A96}" type="datetimeFigureOut">
              <a:rPr lang="en-GB" smtClean="0"/>
              <a:t>13/10/2026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27E2C4-69D1-4B50-9DAE-2E5E82BD4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16E134-20D6-4858-A9B0-7F305FBF9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F01C0-1D36-4705-BFFF-9D4A09C5B0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2848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33803-D619-4B8F-81CD-382B82639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F95BDF-97F2-4ECA-8418-2315A5895E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8E9CE4-7905-4F56-83CF-AD523F64CB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6D0168-8AFD-4B5B-80FC-385E34CAB5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7973F2-3638-4B2D-99BA-C54490E7D2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7D590F-00DD-4181-A5FA-3E2C976E4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6131A-4E47-4E44-9A4E-878F4F900A96}" type="datetimeFigureOut">
              <a:rPr lang="en-GB" smtClean="0"/>
              <a:t>13/10/2026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80F3427-FF98-496B-9782-601AC3D56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8F3E67-5804-4985-9E27-9123361B7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F01C0-1D36-4705-BFFF-9D4A09C5B0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20527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96FE6-B5CD-4EE2-AC2D-110FFDE5F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6D34CB-1A64-4488-A4E4-903BA9040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6131A-4E47-4E44-9A4E-878F4F900A96}" type="datetimeFigureOut">
              <a:rPr lang="en-GB" smtClean="0"/>
              <a:t>13/10/2026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85CBDE-D525-4763-BC8F-B0AC30D7E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4E9E71-BCF4-45FD-9711-71F406592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F01C0-1D36-4705-BFFF-9D4A09C5B0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14663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D86EE9-C814-4643-8548-5C234C935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6131A-4E47-4E44-9A4E-878F4F900A96}" type="datetimeFigureOut">
              <a:rPr lang="en-GB" smtClean="0"/>
              <a:t>13/10/2026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7F869F-725B-4682-A0F5-43FB7CE58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1CFC14-8CBB-46C3-9099-73EDCDED9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F01C0-1D36-4705-BFFF-9D4A09C5B0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3375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EF2F3-7082-489E-B7CD-94144227A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036173-5DC3-4104-BAA4-369A346F8E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4B46A1-62DD-459A-A7F7-A721330B16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D0939C-EE42-42AE-B6CA-6686E1122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6131A-4E47-4E44-9A4E-878F4F900A96}" type="datetimeFigureOut">
              <a:rPr lang="en-GB" smtClean="0"/>
              <a:t>13/10/2026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9FC99F-D306-4854-97F4-81B5E6A7D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E6E9FF-02C9-4899-91ED-B46F83B6D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F01C0-1D36-4705-BFFF-9D4A09C5B0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02526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2B3FE-9EEF-4523-B3EC-C3BF314FE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B80C5F-BDFE-48D7-A4A8-1618367E9A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C49FCC-57A5-4065-8426-EF7D32C5F2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1E1CC6-7534-428D-BB89-6400B3C90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6131A-4E47-4E44-9A4E-878F4F900A96}" type="datetimeFigureOut">
              <a:rPr lang="en-GB" smtClean="0"/>
              <a:t>13/10/2026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2B8466-B54C-4965-ACCB-59F9D39B4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77BCBC-198F-4F1E-B2B0-0A91E580E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F01C0-1D36-4705-BFFF-9D4A09C5B0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05364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A7322-D30C-415C-AD10-2483E32D7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25E861-D43E-429B-B46E-3685545F7C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E16780-649F-48A9-B6D5-CE1715C5B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6131A-4E47-4E44-9A4E-878F4F900A96}" type="datetimeFigureOut">
              <a:rPr lang="en-GB" smtClean="0"/>
              <a:t>13/10/2026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0AF729-F610-4D83-BFB3-543AF9F9F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B7448E-8F6E-4443-BF60-954B0748D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F01C0-1D36-4705-BFFF-9D4A09C5B0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07896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F0959A-EC09-4E3A-81ED-9B30FB009B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9CE9F1-FA39-49AE-863B-63024FE302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20F36E-521F-46AF-9A6F-8CF1E8609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6131A-4E47-4E44-9A4E-878F4F900A96}" type="datetimeFigureOut">
              <a:rPr lang="en-GB" smtClean="0"/>
              <a:t>13/10/2026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32E955-1E1A-4292-9246-E8255FEF9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E40996-E744-452B-9285-E783E9E21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F01C0-1D36-4705-BFFF-9D4A09C5B0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573955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E624A3-CB98-40C5-910B-D3CC2076A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47303A-78C5-4C7D-9D54-793B0C1492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FFA57D-5880-45A2-AC6A-C1CC740A81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C6131A-4E47-4E44-9A4E-878F4F900A96}" type="datetimeFigureOut">
              <a:rPr lang="en-GB" smtClean="0"/>
              <a:t>13/10/2026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14AA3-8BDD-481F-975C-DE3E46CD65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B3975F-2674-4CE0-A5A1-200BBEE71D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CF01C0-1D36-4705-BFFF-9D4A09C5B0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7862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hyperlink" Target="https://lethe-nine.vercel.app/?demo=play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hyperlink" Target="https://lethe-nine.vercel.app/?demo=play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ference artwork">
            <a:extLst>
              <a:ext uri="{FF2B5EF4-FFF2-40B4-BE49-F238E27FC236}">
                <a16:creationId xmlns:a16="http://schemas.microsoft.com/office/drawing/2014/main" id="{5C3C4B51-D9CA-4200-B528-89020E101EE1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editable 1">
            <a:extLst>
              <a:ext uri="{FF2B5EF4-FFF2-40B4-BE49-F238E27FC236}">
                <a16:creationId xmlns:a16="http://schemas.microsoft.com/office/drawing/2014/main" id="{8BD03D42-3FE9-4BC5-956A-E590254C240E}"/>
              </a:ext>
            </a:extLst>
          </p:cNvPr>
          <p:cNvSpPr txBox="1"/>
          <p:nvPr/>
        </p:nvSpPr>
        <p:spPr>
          <a:xfrm>
            <a:off x="731520" y="97536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lang="en-GB" sz="1140" spc="120">
                <a:solidFill>
                  <a:srgbClr val="F1CE94"/>
                </a:solidFill>
                <a:latin typeface="Segoe UI" panose="020B0502040204020203" pitchFamily="34" charset="0"/>
              </a:rPr>
              <a:t>a garden that forgets</a:t>
            </a:r>
          </a:p>
        </p:txBody>
      </p:sp>
      <p:sp>
        <p:nvSpPr>
          <p:cNvPr id="5" name="editable 2">
            <a:extLst>
              <a:ext uri="{FF2B5EF4-FFF2-40B4-BE49-F238E27FC236}">
                <a16:creationId xmlns:a16="http://schemas.microsoft.com/office/drawing/2014/main" id="{7DD79E93-4C9D-4F1D-A645-D0055F11FDAA}"/>
              </a:ext>
            </a:extLst>
          </p:cNvPr>
          <p:cNvSpPr txBox="1"/>
          <p:nvPr/>
        </p:nvSpPr>
        <p:spPr>
          <a:xfrm>
            <a:off x="685800" y="127254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lang="en-GB" sz="9720" spc="-420">
                <a:solidFill>
                  <a:srgbClr val="F2EDE3"/>
                </a:solidFill>
                <a:latin typeface="Georgia" panose="02040502050405020303" pitchFamily="18" charset="0"/>
              </a:rPr>
              <a:t>lethe</a:t>
            </a:r>
          </a:p>
        </p:txBody>
      </p:sp>
      <p:sp>
        <p:nvSpPr>
          <p:cNvPr id="6" name="editable 3">
            <a:extLst>
              <a:ext uri="{FF2B5EF4-FFF2-40B4-BE49-F238E27FC236}">
                <a16:creationId xmlns:a16="http://schemas.microsoft.com/office/drawing/2014/main" id="{F2C8B037-D472-4C4A-BA00-80C0304EFF1E}"/>
              </a:ext>
            </a:extLst>
          </p:cNvPr>
          <p:cNvSpPr txBox="1"/>
          <p:nvPr/>
        </p:nvSpPr>
        <p:spPr>
          <a:xfrm>
            <a:off x="731520" y="2825115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lang="en-GB" sz="2040">
                <a:solidFill>
                  <a:srgbClr val="F2EDE3"/>
                </a:solidFill>
                <a:latin typeface="Segoe UI" panose="020B0502040204020203" pitchFamily="34" charset="0"/>
              </a:rPr>
              <a:t>a life becomes a garden</a:t>
            </a:r>
          </a:p>
        </p:txBody>
      </p:sp>
      <p:sp>
        <p:nvSpPr>
          <p:cNvPr id="7" name="editable 4">
            <a:extLst>
              <a:ext uri="{FF2B5EF4-FFF2-40B4-BE49-F238E27FC236}">
                <a16:creationId xmlns:a16="http://schemas.microsoft.com/office/drawing/2014/main" id="{FD031970-E639-4490-9246-3B42003F992A}"/>
              </a:ext>
            </a:extLst>
          </p:cNvPr>
          <p:cNvSpPr txBox="1"/>
          <p:nvPr/>
        </p:nvSpPr>
        <p:spPr>
          <a:xfrm>
            <a:off x="731520" y="595122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lang="en-GB" sz="1320">
                <a:solidFill>
                  <a:srgbClr val="AAB3C3"/>
                </a:solidFill>
                <a:latin typeface="Segoe UI" panose="020B0502040204020203" pitchFamily="34" charset="0"/>
              </a:rPr>
              <a:t>what would you choose to keep in bloom?</a:t>
            </a:r>
          </a:p>
        </p:txBody>
      </p:sp>
    </p:spTree>
    <p:extLst>
      <p:ext uri="{BB962C8B-B14F-4D97-AF65-F5344CB8AC3E}">
        <p14:creationId xmlns:p14="http://schemas.microsoft.com/office/powerpoint/2010/main" val="29246059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ference artwork">
            <a:extLst>
              <a:ext uri="{FF2B5EF4-FFF2-40B4-BE49-F238E27FC236}">
                <a16:creationId xmlns:a16="http://schemas.microsoft.com/office/drawing/2014/main" id="{E9211AC3-C86B-4123-A809-3DD9B717B6ED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editable 1">
            <a:extLst>
              <a:ext uri="{FF2B5EF4-FFF2-40B4-BE49-F238E27FC236}">
                <a16:creationId xmlns:a16="http://schemas.microsoft.com/office/drawing/2014/main" id="{691660A5-58B7-484B-B588-432CD22C0BD4}"/>
              </a:ext>
            </a:extLst>
          </p:cNvPr>
          <p:cNvSpPr txBox="1"/>
          <p:nvPr/>
        </p:nvSpPr>
        <p:spPr>
          <a:xfrm>
            <a:off x="731520" y="118872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lang="en-GB" sz="1140" spc="120">
                <a:solidFill>
                  <a:srgbClr val="F1CE94"/>
                </a:solidFill>
                <a:latin typeface="Segoe UI" panose="020B0502040204020203" pitchFamily="34" charset="0"/>
              </a:rPr>
              <a:t>a moment for the room</a:t>
            </a:r>
          </a:p>
        </p:txBody>
      </p:sp>
      <p:sp>
        <p:nvSpPr>
          <p:cNvPr id="5" name="editable 2">
            <a:extLst>
              <a:ext uri="{FF2B5EF4-FFF2-40B4-BE49-F238E27FC236}">
                <a16:creationId xmlns:a16="http://schemas.microsoft.com/office/drawing/2014/main" id="{810735F6-1FA1-4189-B8D1-AE34FC68D371}"/>
              </a:ext>
            </a:extLst>
          </p:cNvPr>
          <p:cNvSpPr txBox="1"/>
          <p:nvPr/>
        </p:nvSpPr>
        <p:spPr>
          <a:xfrm>
            <a:off x="731520" y="157734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lang="en-GB" sz="5820" spc="-120">
                <a:solidFill>
                  <a:srgbClr val="F2EDE3"/>
                </a:solidFill>
                <a:latin typeface="Georgia" panose="02040502050405020303" pitchFamily="18" charset="0"/>
              </a:rPr>
              <a:t>hold one memory</a:t>
            </a:r>
          </a:p>
        </p:txBody>
      </p:sp>
      <p:sp>
        <p:nvSpPr>
          <p:cNvPr id="6" name="editable 3">
            <a:extLst>
              <a:ext uri="{FF2B5EF4-FFF2-40B4-BE49-F238E27FC236}">
                <a16:creationId xmlns:a16="http://schemas.microsoft.com/office/drawing/2014/main" id="{B6D4B212-F0A5-40B7-9929-D9E09DD9798E}"/>
              </a:ext>
            </a:extLst>
          </p:cNvPr>
          <p:cNvSpPr txBox="1"/>
          <p:nvPr/>
        </p:nvSpPr>
        <p:spPr>
          <a:xfrm>
            <a:off x="731520" y="2390299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lang="en-GB" sz="5820" spc="-120">
                <a:solidFill>
                  <a:srgbClr val="F2EDE3"/>
                </a:solidFill>
                <a:latin typeface="Georgia" panose="02040502050405020303" pitchFamily="18" charset="0"/>
              </a:rPr>
              <a:t>in your mind</a:t>
            </a:r>
          </a:p>
        </p:txBody>
      </p:sp>
      <p:sp>
        <p:nvSpPr>
          <p:cNvPr id="7" name="editable 4">
            <a:extLst>
              <a:ext uri="{FF2B5EF4-FFF2-40B4-BE49-F238E27FC236}">
                <a16:creationId xmlns:a16="http://schemas.microsoft.com/office/drawing/2014/main" id="{390EB928-CA11-4637-ADEE-A8685EF76343}"/>
              </a:ext>
            </a:extLst>
          </p:cNvPr>
          <p:cNvSpPr txBox="1"/>
          <p:nvPr/>
        </p:nvSpPr>
        <p:spPr>
          <a:xfrm>
            <a:off x="731520" y="3485197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lang="en-GB" sz="1740">
                <a:solidFill>
                  <a:srgbClr val="AAB3C3"/>
                </a:solidFill>
                <a:latin typeface="Segoe UI" panose="020B0502040204020203" pitchFamily="34" charset="0"/>
              </a:rPr>
              <a:t>you can keep it to yourself.</a:t>
            </a:r>
          </a:p>
        </p:txBody>
      </p:sp>
      <p:sp>
        <p:nvSpPr>
          <p:cNvPr id="8" name="editable 5">
            <a:extLst>
              <a:ext uri="{FF2B5EF4-FFF2-40B4-BE49-F238E27FC236}">
                <a16:creationId xmlns:a16="http://schemas.microsoft.com/office/drawing/2014/main" id="{A067407D-24D0-4D43-813C-879EA8064524}"/>
              </a:ext>
            </a:extLst>
          </p:cNvPr>
          <p:cNvSpPr txBox="1"/>
          <p:nvPr/>
        </p:nvSpPr>
        <p:spPr>
          <a:xfrm>
            <a:off x="731520" y="3827621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lang="en-GB" sz="1740">
                <a:solidFill>
                  <a:srgbClr val="AAB3C3"/>
                </a:solidFill>
                <a:latin typeface="Segoe UI" panose="020B0502040204020203" pitchFamily="34" charset="0"/>
              </a:rPr>
              <a:t>what kind of fragment is it?</a:t>
            </a:r>
          </a:p>
        </p:txBody>
      </p:sp>
      <p:sp>
        <p:nvSpPr>
          <p:cNvPr id="9" name="editable 6">
            <a:extLst>
              <a:ext uri="{FF2B5EF4-FFF2-40B4-BE49-F238E27FC236}">
                <a16:creationId xmlns:a16="http://schemas.microsoft.com/office/drawing/2014/main" id="{D12D105C-4112-47F0-B379-B14455DCF9CF}"/>
              </a:ext>
            </a:extLst>
          </p:cNvPr>
          <p:cNvSpPr txBox="1"/>
          <p:nvPr/>
        </p:nvSpPr>
        <p:spPr>
          <a:xfrm>
            <a:off x="731520" y="4665345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lang="en-GB" sz="1500">
                <a:solidFill>
                  <a:srgbClr val="AAB3C3"/>
                </a:solidFill>
                <a:latin typeface="Segoe UI" panose="020B0502040204020203" pitchFamily="34" charset="0"/>
              </a:rPr>
              <a:t>a sentence</a:t>
            </a:r>
          </a:p>
        </p:txBody>
      </p:sp>
      <p:sp>
        <p:nvSpPr>
          <p:cNvPr id="10" name="editable 7">
            <a:extLst>
              <a:ext uri="{FF2B5EF4-FFF2-40B4-BE49-F238E27FC236}">
                <a16:creationId xmlns:a16="http://schemas.microsoft.com/office/drawing/2014/main" id="{B3DE5D4E-EE19-4BE1-99C3-EF9E79C717C6}"/>
              </a:ext>
            </a:extLst>
          </p:cNvPr>
          <p:cNvSpPr txBox="1"/>
          <p:nvPr/>
        </p:nvSpPr>
        <p:spPr>
          <a:xfrm>
            <a:off x="1963817" y="4665345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lang="en-GB" sz="1500">
                <a:solidFill>
                  <a:srgbClr val="AAB3C3"/>
                </a:solidFill>
                <a:latin typeface="Segoe UI" panose="020B0502040204020203" pitchFamily="34" charset="0"/>
              </a:rPr>
              <a:t>a song</a:t>
            </a:r>
          </a:p>
        </p:txBody>
      </p:sp>
      <p:sp>
        <p:nvSpPr>
          <p:cNvPr id="11" name="editable 8">
            <a:extLst>
              <a:ext uri="{FF2B5EF4-FFF2-40B4-BE49-F238E27FC236}">
                <a16:creationId xmlns:a16="http://schemas.microsoft.com/office/drawing/2014/main" id="{7399A56C-6D28-4B1E-B968-C5456F600E5C}"/>
              </a:ext>
            </a:extLst>
          </p:cNvPr>
          <p:cNvSpPr txBox="1"/>
          <p:nvPr/>
        </p:nvSpPr>
        <p:spPr>
          <a:xfrm>
            <a:off x="2860715" y="4665345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lang="en-GB" sz="1500">
                <a:solidFill>
                  <a:srgbClr val="AAB3C3"/>
                </a:solidFill>
                <a:latin typeface="Segoe UI" panose="020B0502040204020203" pitchFamily="34" charset="0"/>
              </a:rPr>
              <a:t>a place</a:t>
            </a:r>
          </a:p>
        </p:txBody>
      </p:sp>
      <p:sp>
        <p:nvSpPr>
          <p:cNvPr id="12" name="editable 9">
            <a:extLst>
              <a:ext uri="{FF2B5EF4-FFF2-40B4-BE49-F238E27FC236}">
                <a16:creationId xmlns:a16="http://schemas.microsoft.com/office/drawing/2014/main" id="{9F195D4C-BFB2-4AD1-BE20-944BD1F1A503}"/>
              </a:ext>
            </a:extLst>
          </p:cNvPr>
          <p:cNvSpPr txBox="1"/>
          <p:nvPr/>
        </p:nvSpPr>
        <p:spPr>
          <a:xfrm>
            <a:off x="3787854" y="4665345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lang="en-GB" sz="1500">
                <a:solidFill>
                  <a:srgbClr val="AAB3C3"/>
                </a:solidFill>
                <a:latin typeface="Segoe UI" panose="020B0502040204020203" pitchFamily="34" charset="0"/>
              </a:rPr>
              <a:t>a photograph</a:t>
            </a:r>
          </a:p>
        </p:txBody>
      </p:sp>
      <p:sp>
        <p:nvSpPr>
          <p:cNvPr id="13" name="editable 10">
            <a:extLst>
              <a:ext uri="{FF2B5EF4-FFF2-40B4-BE49-F238E27FC236}">
                <a16:creationId xmlns:a16="http://schemas.microsoft.com/office/drawing/2014/main" id="{85EC235A-8940-48A4-9E47-9F116A4FF5B3}"/>
              </a:ext>
            </a:extLst>
          </p:cNvPr>
          <p:cNvSpPr txBox="1"/>
          <p:nvPr/>
        </p:nvSpPr>
        <p:spPr>
          <a:xfrm>
            <a:off x="731520" y="5229225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lang="en-GB" sz="2160">
                <a:solidFill>
                  <a:srgbClr val="F1CE94"/>
                </a:solidFill>
                <a:latin typeface="Georgia" panose="02040502050405020303" pitchFamily="18" charset="0"/>
              </a:rPr>
              <a:t>someone’s voice. a familiar room. one ordinary moment.</a:t>
            </a:r>
          </a:p>
        </p:txBody>
      </p:sp>
    </p:spTree>
    <p:extLst>
      <p:ext uri="{BB962C8B-B14F-4D97-AF65-F5344CB8AC3E}">
        <p14:creationId xmlns:p14="http://schemas.microsoft.com/office/powerpoint/2010/main" val="12503604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ference artwork">
            <a:extLst>
              <a:ext uri="{FF2B5EF4-FFF2-40B4-BE49-F238E27FC236}">
                <a16:creationId xmlns:a16="http://schemas.microsoft.com/office/drawing/2014/main" id="{4EE8E0F4-12DB-48E9-8546-D5DD2A6ED085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editable 1">
            <a:extLst>
              <a:ext uri="{FF2B5EF4-FFF2-40B4-BE49-F238E27FC236}">
                <a16:creationId xmlns:a16="http://schemas.microsoft.com/office/drawing/2014/main" id="{154137D0-2773-4B49-8F2A-B2420BDA7587}"/>
              </a:ext>
            </a:extLst>
          </p:cNvPr>
          <p:cNvSpPr txBox="1"/>
          <p:nvPr/>
        </p:nvSpPr>
        <p:spPr>
          <a:xfrm>
            <a:off x="731520" y="8001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lang="en-GB" sz="1140" spc="120">
                <a:solidFill>
                  <a:srgbClr val="F1CE94"/>
                </a:solidFill>
                <a:latin typeface="Segoe UI" panose="020B0502040204020203" pitchFamily="34" charset="0"/>
              </a:rPr>
              <a:t>one fictional life</a:t>
            </a:r>
          </a:p>
        </p:txBody>
      </p:sp>
      <p:sp>
        <p:nvSpPr>
          <p:cNvPr id="5" name="editable 2">
            <a:extLst>
              <a:ext uri="{FF2B5EF4-FFF2-40B4-BE49-F238E27FC236}">
                <a16:creationId xmlns:a16="http://schemas.microsoft.com/office/drawing/2014/main" id="{388CB80D-D436-44C3-BF27-37ED0EEDF236}"/>
              </a:ext>
            </a:extLst>
          </p:cNvPr>
          <p:cNvSpPr txBox="1"/>
          <p:nvPr/>
        </p:nvSpPr>
        <p:spPr>
          <a:xfrm>
            <a:off x="731520" y="118872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lang="en-GB" sz="4980" spc="-120">
                <a:solidFill>
                  <a:srgbClr val="F2EDE3"/>
                </a:solidFill>
                <a:latin typeface="Georgia" panose="02040502050405020303" pitchFamily="18" charset="0"/>
              </a:rPr>
              <a:t>her words</a:t>
            </a:r>
          </a:p>
        </p:txBody>
      </p:sp>
      <p:sp>
        <p:nvSpPr>
          <p:cNvPr id="6" name="editable 3">
            <a:extLst>
              <a:ext uri="{FF2B5EF4-FFF2-40B4-BE49-F238E27FC236}">
                <a16:creationId xmlns:a16="http://schemas.microsoft.com/office/drawing/2014/main" id="{3D6B6915-971A-47C0-9770-F0E02D1DF018}"/>
              </a:ext>
            </a:extLst>
          </p:cNvPr>
          <p:cNvSpPr txBox="1"/>
          <p:nvPr/>
        </p:nvSpPr>
        <p:spPr>
          <a:xfrm>
            <a:off x="731520" y="2173962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lang="en-GB" sz="4020">
                <a:solidFill>
                  <a:srgbClr val="F1CE94"/>
                </a:solidFill>
                <a:latin typeface="Georgia" panose="02040502050405020303" pitchFamily="18" charset="0"/>
              </a:rPr>
              <a:t>“You don’t have </a:t>
            </a:r>
          </a:p>
        </p:txBody>
      </p:sp>
      <p:sp>
        <p:nvSpPr>
          <p:cNvPr id="7" name="editable 4">
            <a:extLst>
              <a:ext uri="{FF2B5EF4-FFF2-40B4-BE49-F238E27FC236}">
                <a16:creationId xmlns:a16="http://schemas.microsoft.com/office/drawing/2014/main" id="{6C9B5E53-5BA0-4DE6-BA5C-9A7DA9B350FB}"/>
              </a:ext>
            </a:extLst>
          </p:cNvPr>
          <p:cNvSpPr txBox="1"/>
          <p:nvPr/>
        </p:nvSpPr>
        <p:spPr>
          <a:xfrm>
            <a:off x="731520" y="2801898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lang="en-GB" sz="4020">
                <a:solidFill>
                  <a:srgbClr val="F1CE94"/>
                </a:solidFill>
                <a:latin typeface="Georgia" panose="02040502050405020303" pitchFamily="18" charset="0"/>
              </a:rPr>
              <a:t>to be brave all the </a:t>
            </a:r>
          </a:p>
        </p:txBody>
      </p:sp>
      <p:sp>
        <p:nvSpPr>
          <p:cNvPr id="8" name="editable 5">
            <a:extLst>
              <a:ext uri="{FF2B5EF4-FFF2-40B4-BE49-F238E27FC236}">
                <a16:creationId xmlns:a16="http://schemas.microsoft.com/office/drawing/2014/main" id="{7B70E8FA-3C12-4F8E-8829-22A5D1D4437C}"/>
              </a:ext>
            </a:extLst>
          </p:cNvPr>
          <p:cNvSpPr txBox="1"/>
          <p:nvPr/>
        </p:nvSpPr>
        <p:spPr>
          <a:xfrm>
            <a:off x="731520" y="3429833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lang="en-GB" sz="4020">
                <a:solidFill>
                  <a:srgbClr val="F1CE94"/>
                </a:solidFill>
                <a:latin typeface="Georgia" panose="02040502050405020303" pitchFamily="18" charset="0"/>
              </a:rPr>
              <a:t>time.”</a:t>
            </a:r>
          </a:p>
        </p:txBody>
      </p:sp>
      <p:sp>
        <p:nvSpPr>
          <p:cNvPr id="9" name="editable 6">
            <a:extLst>
              <a:ext uri="{FF2B5EF4-FFF2-40B4-BE49-F238E27FC236}">
                <a16:creationId xmlns:a16="http://schemas.microsoft.com/office/drawing/2014/main" id="{3680CD9D-B5F6-4392-959F-775B994D9B63}"/>
              </a:ext>
            </a:extLst>
          </p:cNvPr>
          <p:cNvSpPr txBox="1"/>
          <p:nvPr/>
        </p:nvSpPr>
        <p:spPr>
          <a:xfrm>
            <a:off x="731520" y="4339709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lang="en-GB" sz="1560">
                <a:solidFill>
                  <a:srgbClr val="AAB3C3"/>
                </a:solidFill>
                <a:latin typeface="Segoe UI" panose="020B0502040204020203" pitchFamily="34" charset="0"/>
              </a:rPr>
              <a:t>grandma mei’s kitchen.</a:t>
            </a:r>
          </a:p>
        </p:txBody>
      </p:sp>
      <p:sp>
        <p:nvSpPr>
          <p:cNvPr id="10" name="editable 7">
            <a:extLst>
              <a:ext uri="{FF2B5EF4-FFF2-40B4-BE49-F238E27FC236}">
                <a16:creationId xmlns:a16="http://schemas.microsoft.com/office/drawing/2014/main" id="{229EDD6A-675D-40E9-AAC4-57CCC453F4CD}"/>
              </a:ext>
            </a:extLst>
          </p:cNvPr>
          <p:cNvSpPr txBox="1"/>
          <p:nvPr/>
        </p:nvSpPr>
        <p:spPr>
          <a:xfrm>
            <a:off x="731520" y="4646771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lang="en-GB" sz="1560">
                <a:solidFill>
                  <a:srgbClr val="AAB3C3"/>
                </a:solidFill>
                <a:latin typeface="Segoe UI" panose="020B0502040204020203" pitchFamily="34" charset="0"/>
              </a:rPr>
              <a:t>the music she played.</a:t>
            </a:r>
          </a:p>
        </p:txBody>
      </p:sp>
      <p:sp>
        <p:nvSpPr>
          <p:cNvPr id="11" name="editable 8">
            <a:extLst>
              <a:ext uri="{FF2B5EF4-FFF2-40B4-BE49-F238E27FC236}">
                <a16:creationId xmlns:a16="http://schemas.microsoft.com/office/drawing/2014/main" id="{6395FE81-488A-473E-9C87-072F8711A5B1}"/>
              </a:ext>
            </a:extLst>
          </p:cNvPr>
          <p:cNvSpPr txBox="1"/>
          <p:nvPr/>
        </p:nvSpPr>
        <p:spPr>
          <a:xfrm>
            <a:off x="731520" y="4953833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lang="en-GB" sz="1560">
                <a:solidFill>
                  <a:srgbClr val="AAB3C3"/>
                </a:solidFill>
                <a:latin typeface="Segoe UI" panose="020B0502040204020203" pitchFamily="34" charset="0"/>
              </a:rPr>
              <a:t>different moments, one person.</a:t>
            </a:r>
          </a:p>
        </p:txBody>
      </p:sp>
    </p:spTree>
    <p:extLst>
      <p:ext uri="{BB962C8B-B14F-4D97-AF65-F5344CB8AC3E}">
        <p14:creationId xmlns:p14="http://schemas.microsoft.com/office/powerpoint/2010/main" val="22826694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ference artwork">
            <a:extLst>
              <a:ext uri="{FF2B5EF4-FFF2-40B4-BE49-F238E27FC236}">
                <a16:creationId xmlns:a16="http://schemas.microsoft.com/office/drawing/2014/main" id="{58642387-38F9-4500-A3C1-A325C6FEE191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editable 1">
            <a:extLst>
              <a:ext uri="{FF2B5EF4-FFF2-40B4-BE49-F238E27FC236}">
                <a16:creationId xmlns:a16="http://schemas.microsoft.com/office/drawing/2014/main" id="{2DE25956-BFE1-4754-BEF0-E27AB87F8EDF}"/>
              </a:ext>
            </a:extLst>
          </p:cNvPr>
          <p:cNvSpPr txBox="1"/>
          <p:nvPr/>
        </p:nvSpPr>
        <p:spPr>
          <a:xfrm>
            <a:off x="731520" y="79248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lang="en-GB" sz="1140" spc="120">
                <a:solidFill>
                  <a:srgbClr val="F1CE94"/>
                </a:solidFill>
                <a:latin typeface="Segoe UI" panose="020B0502040204020203" pitchFamily="34" charset="0"/>
              </a:rPr>
              <a:t>a choice for the audience</a:t>
            </a:r>
          </a:p>
        </p:txBody>
      </p:sp>
      <p:sp>
        <p:nvSpPr>
          <p:cNvPr id="5" name="editable 2">
            <a:extLst>
              <a:ext uri="{FF2B5EF4-FFF2-40B4-BE49-F238E27FC236}">
                <a16:creationId xmlns:a16="http://schemas.microsoft.com/office/drawing/2014/main" id="{D199E276-5B99-4D54-89A0-F3E7B0C1DDC8}"/>
              </a:ext>
            </a:extLst>
          </p:cNvPr>
          <p:cNvSpPr txBox="1"/>
          <p:nvPr/>
        </p:nvSpPr>
        <p:spPr>
          <a:xfrm>
            <a:off x="731520" y="11811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lang="en-GB" sz="4980" spc="-120">
                <a:solidFill>
                  <a:srgbClr val="F2EDE3"/>
                </a:solidFill>
                <a:latin typeface="Georgia" panose="02040502050405020303" pitchFamily="18" charset="0"/>
              </a:rPr>
              <a:t>one light.</a:t>
            </a:r>
          </a:p>
        </p:txBody>
      </p:sp>
      <p:sp>
        <p:nvSpPr>
          <p:cNvPr id="6" name="editable 3">
            <a:extLst>
              <a:ext uri="{FF2B5EF4-FFF2-40B4-BE49-F238E27FC236}">
                <a16:creationId xmlns:a16="http://schemas.microsoft.com/office/drawing/2014/main" id="{88EBF361-56F6-4586-87FB-9E376F2B2D30}"/>
              </a:ext>
            </a:extLst>
          </p:cNvPr>
          <p:cNvSpPr txBox="1"/>
          <p:nvPr/>
        </p:nvSpPr>
        <p:spPr>
          <a:xfrm>
            <a:off x="731520" y="1876782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lang="en-GB" sz="4980" spc="-120">
                <a:solidFill>
                  <a:srgbClr val="F2EDE3"/>
                </a:solidFill>
                <a:latin typeface="Georgia" panose="02040502050405020303" pitchFamily="18" charset="0"/>
              </a:rPr>
              <a:t>where would you place it?</a:t>
            </a:r>
          </a:p>
        </p:txBody>
      </p:sp>
      <p:sp>
        <p:nvSpPr>
          <p:cNvPr id="7" name="editable 4">
            <a:extLst>
              <a:ext uri="{FF2B5EF4-FFF2-40B4-BE49-F238E27FC236}">
                <a16:creationId xmlns:a16="http://schemas.microsoft.com/office/drawing/2014/main" id="{BAD9AD78-2EE6-4014-BE8C-71B8DCEEEF09}"/>
              </a:ext>
            </a:extLst>
          </p:cNvPr>
          <p:cNvSpPr txBox="1"/>
          <p:nvPr/>
        </p:nvSpPr>
        <p:spPr>
          <a:xfrm>
            <a:off x="731520" y="2854404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lang="en-GB" sz="1740">
                <a:solidFill>
                  <a:srgbClr val="AAB3C3"/>
                </a:solidFill>
                <a:latin typeface="Segoe UI" panose="020B0502040204020203" pitchFamily="34" charset="0"/>
              </a:rPr>
              <a:t>raise a hand for the memory you would tend.</a:t>
            </a:r>
          </a:p>
        </p:txBody>
      </p:sp>
      <p:sp>
        <p:nvSpPr>
          <p:cNvPr id="8" name="editable 5">
            <a:extLst>
              <a:ext uri="{FF2B5EF4-FFF2-40B4-BE49-F238E27FC236}">
                <a16:creationId xmlns:a16="http://schemas.microsoft.com/office/drawing/2014/main" id="{7416BDD1-1754-4F87-9E19-80D59B97142C}"/>
              </a:ext>
            </a:extLst>
          </p:cNvPr>
          <p:cNvSpPr txBox="1"/>
          <p:nvPr/>
        </p:nvSpPr>
        <p:spPr>
          <a:xfrm>
            <a:off x="731520" y="4036933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lang="en-GB" sz="2700">
                <a:solidFill>
                  <a:srgbClr val="F2EDE3"/>
                </a:solidFill>
                <a:latin typeface="Georgia" panose="02040502050405020303" pitchFamily="18" charset="0"/>
              </a:rPr>
              <a:t>grandma mei’s words</a:t>
            </a:r>
          </a:p>
        </p:txBody>
      </p:sp>
      <p:sp>
        <p:nvSpPr>
          <p:cNvPr id="9" name="editable 6">
            <a:extLst>
              <a:ext uri="{FF2B5EF4-FFF2-40B4-BE49-F238E27FC236}">
                <a16:creationId xmlns:a16="http://schemas.microsoft.com/office/drawing/2014/main" id="{B7C62C9E-ADB7-4413-82A3-DF77386144C4}"/>
              </a:ext>
            </a:extLst>
          </p:cNvPr>
          <p:cNvSpPr txBox="1"/>
          <p:nvPr/>
        </p:nvSpPr>
        <p:spPr>
          <a:xfrm>
            <a:off x="731520" y="4577953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lang="en-GB" sz="1380">
                <a:solidFill>
                  <a:srgbClr val="AAB3C3"/>
                </a:solidFill>
                <a:latin typeface="Segoe UI" panose="020B0502040204020203" pitchFamily="34" charset="0"/>
              </a:rPr>
              <a:t>care travels to memories connected to her</a:t>
            </a:r>
          </a:p>
        </p:txBody>
      </p:sp>
      <p:sp>
        <p:nvSpPr>
          <p:cNvPr id="10" name="editable 7">
            <a:extLst>
              <a:ext uri="{FF2B5EF4-FFF2-40B4-BE49-F238E27FC236}">
                <a16:creationId xmlns:a16="http://schemas.microsoft.com/office/drawing/2014/main" id="{F07FEAFA-8A16-420F-A06A-F9122AED12BF}"/>
              </a:ext>
            </a:extLst>
          </p:cNvPr>
          <p:cNvSpPr txBox="1"/>
          <p:nvPr/>
        </p:nvSpPr>
        <p:spPr>
          <a:xfrm>
            <a:off x="5817870" y="4036933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lang="en-GB" sz="2700">
                <a:solidFill>
                  <a:srgbClr val="F2EDE3"/>
                </a:solidFill>
                <a:latin typeface="Georgia" panose="02040502050405020303" pitchFamily="18" charset="0"/>
              </a:rPr>
              <a:t>the library rooftop</a:t>
            </a:r>
          </a:p>
        </p:txBody>
      </p:sp>
      <p:sp>
        <p:nvSpPr>
          <p:cNvPr id="11" name="editable 8">
            <a:extLst>
              <a:ext uri="{FF2B5EF4-FFF2-40B4-BE49-F238E27FC236}">
                <a16:creationId xmlns:a16="http://schemas.microsoft.com/office/drawing/2014/main" id="{6135DB61-7EEA-4D96-A1B4-28468BDA6384}"/>
              </a:ext>
            </a:extLst>
          </p:cNvPr>
          <p:cNvSpPr txBox="1"/>
          <p:nvPr/>
        </p:nvSpPr>
        <p:spPr>
          <a:xfrm>
            <a:off x="5817870" y="4577953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lang="en-GB" sz="1380">
                <a:solidFill>
                  <a:srgbClr val="AAB3C3"/>
                </a:solidFill>
                <a:latin typeface="Segoe UI" panose="020B0502040204020203" pitchFamily="34" charset="0"/>
              </a:rPr>
              <a:t>a place that matters on its own</a:t>
            </a:r>
          </a:p>
        </p:txBody>
      </p:sp>
      <p:sp>
        <p:nvSpPr>
          <p:cNvPr id="12" name="editable 9">
            <a:extLst>
              <a:ext uri="{FF2B5EF4-FFF2-40B4-BE49-F238E27FC236}">
                <a16:creationId xmlns:a16="http://schemas.microsoft.com/office/drawing/2014/main" id="{7626B4E3-26A0-4240-92BE-F8A097C03651}"/>
              </a:ext>
            </a:extLst>
          </p:cNvPr>
          <p:cNvSpPr txBox="1"/>
          <p:nvPr/>
        </p:nvSpPr>
        <p:spPr>
          <a:xfrm>
            <a:off x="731520" y="5490448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lang="en-GB" sz="1680">
                <a:solidFill>
                  <a:srgbClr val="F1CE94"/>
                </a:solidFill>
                <a:latin typeface="Segoe UI" panose="020B0502040204020203" pitchFamily="34" charset="0"/>
              </a:rPr>
              <a:t>both choices belong to the same life.</a:t>
            </a:r>
          </a:p>
        </p:txBody>
      </p:sp>
      <p:sp>
        <p:nvSpPr>
          <p:cNvPr id="13" name="editable 10">
            <a:extLst>
              <a:ext uri="{FF2B5EF4-FFF2-40B4-BE49-F238E27FC236}">
                <a16:creationId xmlns:a16="http://schemas.microsoft.com/office/drawing/2014/main" id="{F0421120-15D7-42F8-BA68-B8337CDF3C9D}"/>
              </a:ext>
            </a:extLst>
          </p:cNvPr>
          <p:cNvSpPr txBox="1"/>
          <p:nvPr/>
        </p:nvSpPr>
        <p:spPr>
          <a:xfrm>
            <a:off x="731520" y="6070164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lang="en-GB" sz="1140">
                <a:solidFill>
                  <a:srgbClr val="AAB3C3"/>
                </a:solidFill>
                <a:latin typeface="Segoe UI" panose="020B0502040204020203" pitchFamily="34" charset="0"/>
              </a:rPr>
              <a:t>we’ll take your choice into the living garden.</a:t>
            </a:r>
          </a:p>
        </p:txBody>
      </p:sp>
    </p:spTree>
    <p:extLst>
      <p:ext uri="{BB962C8B-B14F-4D97-AF65-F5344CB8AC3E}">
        <p14:creationId xmlns:p14="http://schemas.microsoft.com/office/powerpoint/2010/main" val="34725136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ference artwork">
            <a:extLst>
              <a:ext uri="{FF2B5EF4-FFF2-40B4-BE49-F238E27FC236}">
                <a16:creationId xmlns:a16="http://schemas.microsoft.com/office/drawing/2014/main" id="{203E5991-1371-49D3-9E76-5169B35B92E8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editable 1">
            <a:extLst>
              <a:ext uri="{FF2B5EF4-FFF2-40B4-BE49-F238E27FC236}">
                <a16:creationId xmlns:a16="http://schemas.microsoft.com/office/drawing/2014/main" id="{A0414B9F-4BD8-4CDE-92B0-3957DE947BAA}"/>
              </a:ext>
            </a:extLst>
          </p:cNvPr>
          <p:cNvSpPr txBox="1"/>
          <p:nvPr/>
        </p:nvSpPr>
        <p:spPr>
          <a:xfrm>
            <a:off x="731520" y="116586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lang="en-GB" sz="1140" spc="120">
                <a:solidFill>
                  <a:srgbClr val="F1CE94"/>
                </a:solidFill>
                <a:latin typeface="Segoe UI" panose="020B0502040204020203" pitchFamily="34" charset="0"/>
              </a:rPr>
              <a:t>the audience’s choice, in the game</a:t>
            </a:r>
          </a:p>
        </p:txBody>
      </p:sp>
      <p:sp>
        <p:nvSpPr>
          <p:cNvPr id="5" name="editable 2">
            <a:extLst>
              <a:ext uri="{FF2B5EF4-FFF2-40B4-BE49-F238E27FC236}">
                <a16:creationId xmlns:a16="http://schemas.microsoft.com/office/drawing/2014/main" id="{0CC9F81D-4D24-49BC-8DB8-3D28CFD847D9}"/>
              </a:ext>
            </a:extLst>
          </p:cNvPr>
          <p:cNvSpPr txBox="1"/>
          <p:nvPr/>
        </p:nvSpPr>
        <p:spPr>
          <a:xfrm>
            <a:off x="731520" y="155448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lang="en-GB" sz="6000" spc="-120">
                <a:solidFill>
                  <a:srgbClr val="F2EDE3"/>
                </a:solidFill>
                <a:latin typeface="Georgia" panose="02040502050405020303" pitchFamily="18" charset="0"/>
              </a:rPr>
              <a:t>the living garden</a:t>
            </a:r>
          </a:p>
        </p:txBody>
      </p:sp>
      <p:sp>
        <p:nvSpPr>
          <p:cNvPr id="6" name="editable 3">
            <a:extLst>
              <a:ext uri="{FF2B5EF4-FFF2-40B4-BE49-F238E27FC236}">
                <a16:creationId xmlns:a16="http://schemas.microsoft.com/office/drawing/2014/main" id="{6E1CB4A8-BB34-46E4-9F06-ABB0ED73F84F}"/>
              </a:ext>
            </a:extLst>
          </p:cNvPr>
          <p:cNvSpPr txBox="1"/>
          <p:nvPr/>
        </p:nvSpPr>
        <p:spPr>
          <a:xfrm>
            <a:off x="731520" y="267462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lang="en-GB" sz="1740">
                <a:solidFill>
                  <a:srgbClr val="AAB3C3"/>
                </a:solidFill>
                <a:latin typeface="Segoe UI" panose="020B0502040204020203" pitchFamily="34" charset="0"/>
              </a:rPr>
              <a:t>choose what to tend.</a:t>
            </a:r>
          </a:p>
        </p:txBody>
      </p:sp>
      <p:sp>
        <p:nvSpPr>
          <p:cNvPr id="7" name="editable 4">
            <a:extLst>
              <a:ext uri="{FF2B5EF4-FFF2-40B4-BE49-F238E27FC236}">
                <a16:creationId xmlns:a16="http://schemas.microsoft.com/office/drawing/2014/main" id="{172D1FEA-C0EA-4D03-B07D-5B225870BB4A}"/>
              </a:ext>
            </a:extLst>
          </p:cNvPr>
          <p:cNvSpPr txBox="1"/>
          <p:nvPr/>
        </p:nvSpPr>
        <p:spPr>
          <a:xfrm>
            <a:off x="731520" y="3017044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lang="en-GB" sz="1740">
                <a:solidFill>
                  <a:srgbClr val="AAB3C3"/>
                </a:solidFill>
                <a:latin typeface="Segoe UI" panose="020B0502040204020203" pitchFamily="34" charset="0"/>
              </a:rPr>
              <a:t>plant a fragment. let a season pass.</a:t>
            </a:r>
          </a:p>
        </p:txBody>
      </p:sp>
      <p:sp>
        <p:nvSpPr>
          <p:cNvPr id="8" name="editable 5">
            <a:hlinkClick r:id="rId4"/>
            <a:extLst>
              <a:ext uri="{FF2B5EF4-FFF2-40B4-BE49-F238E27FC236}">
                <a16:creationId xmlns:a16="http://schemas.microsoft.com/office/drawing/2014/main" id="{C592418A-78CA-4A2A-B287-050A2778004E}"/>
              </a:ext>
            </a:extLst>
          </p:cNvPr>
          <p:cNvSpPr txBox="1"/>
          <p:nvPr/>
        </p:nvSpPr>
        <p:spPr>
          <a:xfrm>
            <a:off x="952500" y="3862388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lang="en-GB" sz="1620">
                <a:solidFill>
                  <a:srgbClr val="F1CE94"/>
                </a:solidFill>
                <a:latin typeface="Segoe UI" panose="020B0502040204020203" pitchFamily="34" charset="0"/>
              </a:rPr>
              <a:t>open the garden</a:t>
            </a:r>
          </a:p>
        </p:txBody>
      </p:sp>
      <p:sp>
        <p:nvSpPr>
          <p:cNvPr id="9" name="editable 6">
            <a:extLst>
              <a:ext uri="{FF2B5EF4-FFF2-40B4-BE49-F238E27FC236}">
                <a16:creationId xmlns:a16="http://schemas.microsoft.com/office/drawing/2014/main" id="{32EB5B89-D2D6-4E21-84FA-E4C93FAAE174}"/>
              </a:ext>
            </a:extLst>
          </p:cNvPr>
          <p:cNvSpPr txBox="1"/>
          <p:nvPr/>
        </p:nvSpPr>
        <p:spPr>
          <a:xfrm>
            <a:off x="2954774" y="3873817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lang="en-GB" sz="1500">
                <a:solidFill>
                  <a:srgbClr val="AAB3C3"/>
                </a:solidFill>
                <a:latin typeface="Segoe UI" panose="020B0502040204020203" pitchFamily="34" charset="0"/>
              </a:rPr>
              <a:t>recording fallback</a:t>
            </a:r>
          </a:p>
        </p:txBody>
      </p:sp>
      <p:sp>
        <p:nvSpPr>
          <p:cNvPr id="10" name="editable 7">
            <a:extLst>
              <a:ext uri="{FF2B5EF4-FFF2-40B4-BE49-F238E27FC236}">
                <a16:creationId xmlns:a16="http://schemas.microsoft.com/office/drawing/2014/main" id="{9EE406E1-EFA3-43B4-8879-CC20099F0110}"/>
              </a:ext>
            </a:extLst>
          </p:cNvPr>
          <p:cNvSpPr txBox="1"/>
          <p:nvPr/>
        </p:nvSpPr>
        <p:spPr>
          <a:xfrm>
            <a:off x="731520" y="4525328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lang="en-GB" sz="1140">
                <a:solidFill>
                  <a:srgbClr val="AAB3C3"/>
                </a:solidFill>
                <a:latin typeface="Segoe UI" panose="020B0502040204020203" pitchFamily="34" charset="0"/>
              </a:rPr>
              <a:t>the live game uses its real rules. the recorded route is a fallback.</a:t>
            </a:r>
          </a:p>
        </p:txBody>
      </p:sp>
    </p:spTree>
    <p:extLst>
      <p:ext uri="{BB962C8B-B14F-4D97-AF65-F5344CB8AC3E}">
        <p14:creationId xmlns:p14="http://schemas.microsoft.com/office/powerpoint/2010/main" val="14511190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ference artwork">
            <a:extLst>
              <a:ext uri="{FF2B5EF4-FFF2-40B4-BE49-F238E27FC236}">
                <a16:creationId xmlns:a16="http://schemas.microsoft.com/office/drawing/2014/main" id="{4553697F-126B-4658-AB79-04AE3E3EB7AB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editable 1">
            <a:extLst>
              <a:ext uri="{FF2B5EF4-FFF2-40B4-BE49-F238E27FC236}">
                <a16:creationId xmlns:a16="http://schemas.microsoft.com/office/drawing/2014/main" id="{C9CA9D9B-8D64-4C77-A604-5BAD316F6930}"/>
              </a:ext>
            </a:extLst>
          </p:cNvPr>
          <p:cNvSpPr txBox="1"/>
          <p:nvPr/>
        </p:nvSpPr>
        <p:spPr>
          <a:xfrm>
            <a:off x="731520" y="7620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lang="en-GB" sz="1140" spc="120">
                <a:solidFill>
                  <a:srgbClr val="F1CE94"/>
                </a:solidFill>
                <a:latin typeface="Segoe UI" panose="020B0502040204020203" pitchFamily="34" charset="0"/>
              </a:rPr>
              <a:t>a pause, rather than a verdict</a:t>
            </a:r>
          </a:p>
        </p:txBody>
      </p:sp>
      <p:sp>
        <p:nvSpPr>
          <p:cNvPr id="5" name="editable 2">
            <a:extLst>
              <a:ext uri="{FF2B5EF4-FFF2-40B4-BE49-F238E27FC236}">
                <a16:creationId xmlns:a16="http://schemas.microsoft.com/office/drawing/2014/main" id="{7D3C5FA1-D0F3-4678-A084-14C69F1E7328}"/>
              </a:ext>
            </a:extLst>
          </p:cNvPr>
          <p:cNvSpPr txBox="1"/>
          <p:nvPr/>
        </p:nvSpPr>
        <p:spPr>
          <a:xfrm>
            <a:off x="731520" y="115062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lang="en-GB" sz="5820" spc="-120">
                <a:solidFill>
                  <a:srgbClr val="F2EDE3"/>
                </a:solidFill>
                <a:latin typeface="Georgia" panose="02040502050405020303" pitchFamily="18" charset="0"/>
              </a:rPr>
              <a:t>a seed remains</a:t>
            </a:r>
          </a:p>
        </p:txBody>
      </p:sp>
      <p:sp>
        <p:nvSpPr>
          <p:cNvPr id="6" name="editable 3">
            <a:extLst>
              <a:ext uri="{FF2B5EF4-FFF2-40B4-BE49-F238E27FC236}">
                <a16:creationId xmlns:a16="http://schemas.microsoft.com/office/drawing/2014/main" id="{63B2F616-C0C6-49B5-8560-C618ADC3A22C}"/>
              </a:ext>
            </a:extLst>
          </p:cNvPr>
          <p:cNvSpPr txBox="1"/>
          <p:nvPr/>
        </p:nvSpPr>
        <p:spPr>
          <a:xfrm>
            <a:off x="731520" y="2245519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lang="en-GB" sz="1740">
                <a:solidFill>
                  <a:srgbClr val="AAB3C3"/>
                </a:solidFill>
                <a:latin typeface="Segoe UI" panose="020B0502040204020203" pitchFamily="34" charset="0"/>
              </a:rPr>
              <a:t>the words remain.</a:t>
            </a:r>
          </a:p>
        </p:txBody>
      </p:sp>
      <p:sp>
        <p:nvSpPr>
          <p:cNvPr id="7" name="editable 4">
            <a:extLst>
              <a:ext uri="{FF2B5EF4-FFF2-40B4-BE49-F238E27FC236}">
                <a16:creationId xmlns:a16="http://schemas.microsoft.com/office/drawing/2014/main" id="{DC9C270E-DED2-4048-A7C5-89D324691500}"/>
              </a:ext>
            </a:extLst>
          </p:cNvPr>
          <p:cNvSpPr txBox="1"/>
          <p:nvPr/>
        </p:nvSpPr>
        <p:spPr>
          <a:xfrm>
            <a:off x="731520" y="2587942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lang="en-GB" sz="1740">
                <a:solidFill>
                  <a:srgbClr val="AAB3C3"/>
                </a:solidFill>
                <a:latin typeface="Segoe UI" panose="020B0502040204020203" pitchFamily="34" charset="0"/>
              </a:rPr>
              <a:t>we can return to them.</a:t>
            </a:r>
          </a:p>
        </p:txBody>
      </p:sp>
      <p:sp>
        <p:nvSpPr>
          <p:cNvPr id="8" name="editable 5">
            <a:extLst>
              <a:ext uri="{FF2B5EF4-FFF2-40B4-BE49-F238E27FC236}">
                <a16:creationId xmlns:a16="http://schemas.microsoft.com/office/drawing/2014/main" id="{4B36F012-871C-424F-94E6-8A8244C111CD}"/>
              </a:ext>
            </a:extLst>
          </p:cNvPr>
          <p:cNvSpPr txBox="1"/>
          <p:nvPr/>
        </p:nvSpPr>
        <p:spPr>
          <a:xfrm>
            <a:off x="731520" y="2930366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lang="en-GB" sz="1740">
                <a:solidFill>
                  <a:srgbClr val="AAB3C3"/>
                </a:solidFill>
                <a:latin typeface="Segoe UI" panose="020B0502040204020203" pitchFamily="34" charset="0"/>
              </a:rPr>
              <a:t>for now, this space is quiet.</a:t>
            </a:r>
          </a:p>
        </p:txBody>
      </p:sp>
      <p:sp>
        <p:nvSpPr>
          <p:cNvPr id="9" name="editable 6">
            <a:extLst>
              <a:ext uri="{FF2B5EF4-FFF2-40B4-BE49-F238E27FC236}">
                <a16:creationId xmlns:a16="http://schemas.microsoft.com/office/drawing/2014/main" id="{02AEF378-715B-4F29-95E0-0EBBF0DCFB44}"/>
              </a:ext>
            </a:extLst>
          </p:cNvPr>
          <p:cNvSpPr txBox="1"/>
          <p:nvPr/>
        </p:nvSpPr>
        <p:spPr>
          <a:xfrm>
            <a:off x="731520" y="569976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lang="en-GB" sz="2100">
                <a:solidFill>
                  <a:srgbClr val="F1CE94"/>
                </a:solidFill>
                <a:latin typeface="Georgia" panose="02040502050405020303" pitchFamily="18" charset="0"/>
              </a:rPr>
              <a:t>let this moment breathe</a:t>
            </a:r>
          </a:p>
        </p:txBody>
      </p:sp>
    </p:spTree>
    <p:extLst>
      <p:ext uri="{BB962C8B-B14F-4D97-AF65-F5344CB8AC3E}">
        <p14:creationId xmlns:p14="http://schemas.microsoft.com/office/powerpoint/2010/main" val="29140628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ference artwork">
            <a:extLst>
              <a:ext uri="{FF2B5EF4-FFF2-40B4-BE49-F238E27FC236}">
                <a16:creationId xmlns:a16="http://schemas.microsoft.com/office/drawing/2014/main" id="{4CDC6DCF-1D5B-4D93-B299-5493DE0FC455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editable 1">
            <a:extLst>
              <a:ext uri="{FF2B5EF4-FFF2-40B4-BE49-F238E27FC236}">
                <a16:creationId xmlns:a16="http://schemas.microsoft.com/office/drawing/2014/main" id="{B2FA654F-67F8-483B-AF84-68367458855D}"/>
              </a:ext>
            </a:extLst>
          </p:cNvPr>
          <p:cNvSpPr txBox="1"/>
          <p:nvPr/>
        </p:nvSpPr>
        <p:spPr>
          <a:xfrm>
            <a:off x="731520" y="83058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lang="en-GB" sz="1140" spc="120">
                <a:solidFill>
                  <a:srgbClr val="F1CE94"/>
                </a:solidFill>
                <a:latin typeface="Segoe UI" panose="020B0502040204020203" pitchFamily="34" charset="0"/>
              </a:rPr>
              <a:t>the world becomes a portrait</a:t>
            </a:r>
          </a:p>
        </p:txBody>
      </p:sp>
      <p:sp>
        <p:nvSpPr>
          <p:cNvPr id="5" name="editable 2">
            <a:extLst>
              <a:ext uri="{FF2B5EF4-FFF2-40B4-BE49-F238E27FC236}">
                <a16:creationId xmlns:a16="http://schemas.microsoft.com/office/drawing/2014/main" id="{3DB807D4-0D9F-4680-8140-49E27941A62E}"/>
              </a:ext>
            </a:extLst>
          </p:cNvPr>
          <p:cNvSpPr txBox="1"/>
          <p:nvPr/>
        </p:nvSpPr>
        <p:spPr>
          <a:xfrm>
            <a:off x="731520" y="12192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lang="en-GB" sz="5220" spc="-120">
                <a:solidFill>
                  <a:srgbClr val="F2EDE3"/>
                </a:solidFill>
                <a:latin typeface="Georgia" panose="02040502050405020303" pitchFamily="18" charset="0"/>
              </a:rPr>
              <a:t>what holds</a:t>
            </a:r>
          </a:p>
        </p:txBody>
      </p:sp>
      <p:sp>
        <p:nvSpPr>
          <p:cNvPr id="6" name="editable 3">
            <a:extLst>
              <a:ext uri="{FF2B5EF4-FFF2-40B4-BE49-F238E27FC236}">
                <a16:creationId xmlns:a16="http://schemas.microsoft.com/office/drawing/2014/main" id="{B749DFEA-AB3D-4ADE-A6C7-FE8C983227CC}"/>
              </a:ext>
            </a:extLst>
          </p:cNvPr>
          <p:cNvSpPr txBox="1"/>
          <p:nvPr/>
        </p:nvSpPr>
        <p:spPr>
          <a:xfrm>
            <a:off x="731520" y="1948339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lang="en-GB" sz="5220" spc="-120">
                <a:solidFill>
                  <a:srgbClr val="F2EDE3"/>
                </a:solidFill>
                <a:latin typeface="Georgia" panose="02040502050405020303" pitchFamily="18" charset="0"/>
              </a:rPr>
              <a:t>this life</a:t>
            </a:r>
          </a:p>
        </p:txBody>
      </p:sp>
      <p:sp>
        <p:nvSpPr>
          <p:cNvPr id="7" name="editable 4">
            <a:extLst>
              <a:ext uri="{FF2B5EF4-FFF2-40B4-BE49-F238E27FC236}">
                <a16:creationId xmlns:a16="http://schemas.microsoft.com/office/drawing/2014/main" id="{66C717C5-ED31-4304-A6A8-581DBCF6F4B4}"/>
              </a:ext>
            </a:extLst>
          </p:cNvPr>
          <p:cNvSpPr txBox="1"/>
          <p:nvPr/>
        </p:nvSpPr>
        <p:spPr>
          <a:xfrm>
            <a:off x="731520" y="2959417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lang="en-GB" sz="1680">
                <a:solidFill>
                  <a:srgbClr val="AAB3C3"/>
                </a:solidFill>
                <a:latin typeface="Segoe UI" panose="020B0502040204020203" pitchFamily="34" charset="0"/>
              </a:rPr>
              <a:t>people and places emerge</a:t>
            </a:r>
          </a:p>
        </p:txBody>
      </p:sp>
      <p:sp>
        <p:nvSpPr>
          <p:cNvPr id="8" name="editable 5">
            <a:extLst>
              <a:ext uri="{FF2B5EF4-FFF2-40B4-BE49-F238E27FC236}">
                <a16:creationId xmlns:a16="http://schemas.microsoft.com/office/drawing/2014/main" id="{22D29E31-CA7A-4E35-A716-0A28BD8F296F}"/>
              </a:ext>
            </a:extLst>
          </p:cNvPr>
          <p:cNvSpPr txBox="1"/>
          <p:nvPr/>
        </p:nvSpPr>
        <p:spPr>
          <a:xfrm>
            <a:off x="731520" y="3290054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lang="en-GB" sz="1680">
                <a:solidFill>
                  <a:srgbClr val="AAB3C3"/>
                </a:solidFill>
                <a:latin typeface="Segoe UI" panose="020B0502040204020203" pitchFamily="34" charset="0"/>
              </a:rPr>
              <a:t>from the memories that remain.</a:t>
            </a:r>
          </a:p>
        </p:txBody>
      </p:sp>
      <p:sp>
        <p:nvSpPr>
          <p:cNvPr id="9" name="editable 6">
            <a:extLst>
              <a:ext uri="{FF2B5EF4-FFF2-40B4-BE49-F238E27FC236}">
                <a16:creationId xmlns:a16="http://schemas.microsoft.com/office/drawing/2014/main" id="{2A26A14F-3333-4F06-AE34-628306EAE798}"/>
              </a:ext>
            </a:extLst>
          </p:cNvPr>
          <p:cNvSpPr txBox="1"/>
          <p:nvPr/>
        </p:nvSpPr>
        <p:spPr>
          <a:xfrm>
            <a:off x="731520" y="391025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lang="en-GB" sz="1500">
                <a:solidFill>
                  <a:srgbClr val="F1CE94"/>
                </a:solidFill>
                <a:latin typeface="Segoe UI" panose="020B0502040204020203" pitchFamily="34" charset="0"/>
              </a:rPr>
              <a:t>reveal the relationships</a:t>
            </a:r>
          </a:p>
        </p:txBody>
      </p:sp>
      <p:grpSp>
        <p:nvGrpSpPr>
          <p:cNvPr id="13" name="relationship reveal">
            <a:extLst>
              <a:ext uri="{FF2B5EF4-FFF2-40B4-BE49-F238E27FC236}">
                <a16:creationId xmlns:a16="http://schemas.microsoft.com/office/drawing/2014/main" id="{87079089-5BE1-4E2D-84EC-D6A318805C8F}"/>
              </a:ext>
            </a:extLst>
          </p:cNvPr>
          <p:cNvGrpSpPr/>
          <p:nvPr/>
        </p:nvGrpSpPr>
        <p:grpSpPr>
          <a:xfrm>
            <a:off x="731520" y="4519850"/>
            <a:ext cx="65" cy="1183780"/>
            <a:chOff x="731520" y="4519850"/>
            <a:chExt cx="65" cy="1183780"/>
          </a:xfrm>
        </p:grpSpPr>
        <p:sp>
          <p:nvSpPr>
            <p:cNvPr id="10" name="editable 7">
              <a:extLst>
                <a:ext uri="{FF2B5EF4-FFF2-40B4-BE49-F238E27FC236}">
                  <a16:creationId xmlns:a16="http://schemas.microsoft.com/office/drawing/2014/main" id="{A57FF017-5D24-48A8-B4ED-5995E4D6005F}"/>
                </a:ext>
              </a:extLst>
            </p:cNvPr>
            <p:cNvSpPr txBox="1"/>
            <p:nvPr/>
          </p:nvSpPr>
          <p:spPr>
            <a:xfrm>
              <a:off x="731520" y="4519850"/>
              <a:ext cx="65" cy="276999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r>
                <a:rPr lang="en-GB" sz="2100">
                  <a:solidFill>
                    <a:srgbClr val="F2EDE3"/>
                  </a:solidFill>
                  <a:latin typeface="Georgia" panose="02040502050405020303" pitchFamily="18" charset="0"/>
                </a:rPr>
                <a:t>grandma mei</a:t>
              </a:r>
            </a:p>
          </p:txBody>
        </p:sp>
        <p:sp>
          <p:nvSpPr>
            <p:cNvPr id="11" name="editable 8">
              <a:extLst>
                <a:ext uri="{FF2B5EF4-FFF2-40B4-BE49-F238E27FC236}">
                  <a16:creationId xmlns:a16="http://schemas.microsoft.com/office/drawing/2014/main" id="{0136CC41-B362-4AC3-8922-2AF3F61BC27D}"/>
                </a:ext>
              </a:extLst>
            </p:cNvPr>
            <p:cNvSpPr txBox="1"/>
            <p:nvPr/>
          </p:nvSpPr>
          <p:spPr>
            <a:xfrm>
              <a:off x="731520" y="4973241"/>
              <a:ext cx="65" cy="276999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r>
                <a:rPr lang="en-GB" sz="2100">
                  <a:solidFill>
                    <a:srgbClr val="F2EDE3"/>
                  </a:solidFill>
                  <a:latin typeface="Georgia" panose="02040502050405020303" pitchFamily="18" charset="0"/>
                </a:rPr>
                <a:t>leo</a:t>
              </a:r>
            </a:p>
          </p:txBody>
        </p:sp>
        <p:sp>
          <p:nvSpPr>
            <p:cNvPr id="12" name="editable 9">
              <a:extLst>
                <a:ext uri="{FF2B5EF4-FFF2-40B4-BE49-F238E27FC236}">
                  <a16:creationId xmlns:a16="http://schemas.microsoft.com/office/drawing/2014/main" id="{B2233D71-3860-40FE-8849-0D0483438357}"/>
                </a:ext>
              </a:extLst>
            </p:cNvPr>
            <p:cNvSpPr txBox="1"/>
            <p:nvPr/>
          </p:nvSpPr>
          <p:spPr>
            <a:xfrm>
              <a:off x="731520" y="5426631"/>
              <a:ext cx="65" cy="276999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r>
                <a:rPr lang="en-GB" sz="2100">
                  <a:solidFill>
                    <a:srgbClr val="F2EDE3"/>
                  </a:solidFill>
                  <a:latin typeface="Georgia" panose="02040502050405020303" pitchFamily="18" charset="0"/>
                </a:rPr>
                <a:t>hangzhou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31597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ference artwork">
            <a:extLst>
              <a:ext uri="{FF2B5EF4-FFF2-40B4-BE49-F238E27FC236}">
                <a16:creationId xmlns:a16="http://schemas.microsoft.com/office/drawing/2014/main" id="{A6FBAEEC-5B08-4FDB-8C22-9C9A0F61EA46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editable 1">
            <a:extLst>
              <a:ext uri="{FF2B5EF4-FFF2-40B4-BE49-F238E27FC236}">
                <a16:creationId xmlns:a16="http://schemas.microsoft.com/office/drawing/2014/main" id="{064456E9-34CE-4F03-A9D6-9F78483B74E3}"/>
              </a:ext>
            </a:extLst>
          </p:cNvPr>
          <p:cNvSpPr txBox="1"/>
          <p:nvPr/>
        </p:nvSpPr>
        <p:spPr>
          <a:xfrm>
            <a:off x="731520" y="96774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lang="en-GB" sz="1140" spc="120">
                <a:solidFill>
                  <a:srgbClr val="F1CE94"/>
                </a:solidFill>
                <a:latin typeface="Segoe UI" panose="020B0502040204020203" pitchFamily="34" charset="0"/>
              </a:rPr>
              <a:t>return to the memory you imagined</a:t>
            </a:r>
          </a:p>
        </p:txBody>
      </p:sp>
      <p:sp>
        <p:nvSpPr>
          <p:cNvPr id="5" name="editable 2">
            <a:extLst>
              <a:ext uri="{FF2B5EF4-FFF2-40B4-BE49-F238E27FC236}">
                <a16:creationId xmlns:a16="http://schemas.microsoft.com/office/drawing/2014/main" id="{200767BA-676A-4C20-942F-2BA170DBCB11}"/>
              </a:ext>
            </a:extLst>
          </p:cNvPr>
          <p:cNvSpPr txBox="1"/>
          <p:nvPr/>
        </p:nvSpPr>
        <p:spPr>
          <a:xfrm>
            <a:off x="731520" y="137922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lang="en-GB" sz="6120" spc="-120">
                <a:solidFill>
                  <a:srgbClr val="F2EDE3"/>
                </a:solidFill>
                <a:latin typeface="Georgia" panose="02040502050405020303" pitchFamily="18" charset="0"/>
              </a:rPr>
              <a:t>you cannot keep every</a:t>
            </a:r>
          </a:p>
        </p:txBody>
      </p:sp>
      <p:sp>
        <p:nvSpPr>
          <p:cNvPr id="6" name="editable 3">
            <a:extLst>
              <a:ext uri="{FF2B5EF4-FFF2-40B4-BE49-F238E27FC236}">
                <a16:creationId xmlns:a16="http://schemas.microsoft.com/office/drawing/2014/main" id="{89831ACE-69DD-4103-A9DE-C24CD56F8336}"/>
              </a:ext>
            </a:extLst>
          </p:cNvPr>
          <p:cNvSpPr txBox="1"/>
          <p:nvPr/>
        </p:nvSpPr>
        <p:spPr>
          <a:xfrm>
            <a:off x="731520" y="2280761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lang="en-GB" sz="6120" spc="-120">
                <a:solidFill>
                  <a:srgbClr val="F2EDE3"/>
                </a:solidFill>
                <a:latin typeface="Georgia" panose="02040502050405020303" pitchFamily="18" charset="0"/>
              </a:rPr>
              <a:t>moment in bloom</a:t>
            </a:r>
          </a:p>
        </p:txBody>
      </p:sp>
      <p:sp>
        <p:nvSpPr>
          <p:cNvPr id="7" name="editable 4">
            <a:extLst>
              <a:ext uri="{FF2B5EF4-FFF2-40B4-BE49-F238E27FC236}">
                <a16:creationId xmlns:a16="http://schemas.microsoft.com/office/drawing/2014/main" id="{1418714E-F7F5-4923-A75B-2D3E7D336BA5}"/>
              </a:ext>
            </a:extLst>
          </p:cNvPr>
          <p:cNvSpPr txBox="1"/>
          <p:nvPr/>
        </p:nvSpPr>
        <p:spPr>
          <a:xfrm>
            <a:off x="731520" y="3517583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lang="en-GB" sz="2700">
                <a:solidFill>
                  <a:srgbClr val="F1CE94"/>
                </a:solidFill>
                <a:latin typeface="Georgia" panose="02040502050405020303" pitchFamily="18" charset="0"/>
              </a:rPr>
              <a:t>what you tend gives the garden its shape</a:t>
            </a:r>
          </a:p>
        </p:txBody>
      </p:sp>
      <p:sp>
        <p:nvSpPr>
          <p:cNvPr id="8" name="editable 5">
            <a:extLst>
              <a:ext uri="{FF2B5EF4-FFF2-40B4-BE49-F238E27FC236}">
                <a16:creationId xmlns:a16="http://schemas.microsoft.com/office/drawing/2014/main" id="{B38D21A6-24E7-4B22-B2BD-115C873F183D}"/>
              </a:ext>
            </a:extLst>
          </p:cNvPr>
          <p:cNvSpPr txBox="1"/>
          <p:nvPr/>
        </p:nvSpPr>
        <p:spPr>
          <a:xfrm>
            <a:off x="731520" y="4207192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lang="en-GB" sz="1500">
                <a:solidFill>
                  <a:srgbClr val="AAB3C3"/>
                </a:solidFill>
                <a:latin typeface="Segoe UI" panose="020B0502040204020203" pitchFamily="34" charset="0"/>
              </a:rPr>
              <a:t>what would your garden carry?</a:t>
            </a:r>
          </a:p>
        </p:txBody>
      </p:sp>
      <p:sp>
        <p:nvSpPr>
          <p:cNvPr id="9" name="editable 6">
            <a:hlinkClick r:id="rId4"/>
            <a:extLst>
              <a:ext uri="{FF2B5EF4-FFF2-40B4-BE49-F238E27FC236}">
                <a16:creationId xmlns:a16="http://schemas.microsoft.com/office/drawing/2014/main" id="{AB7A485D-BA4D-417C-84A0-AB5C9C4F09EE}"/>
              </a:ext>
            </a:extLst>
          </p:cNvPr>
          <p:cNvSpPr txBox="1"/>
          <p:nvPr/>
        </p:nvSpPr>
        <p:spPr>
          <a:xfrm>
            <a:off x="952500" y="4938713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lang="en-GB" sz="1620">
                <a:solidFill>
                  <a:srgbClr val="F1CE94"/>
                </a:solidFill>
                <a:latin typeface="Segoe UI" panose="020B0502040204020203" pitchFamily="34" charset="0"/>
              </a:rPr>
              <a:t>plant a memory</a:t>
            </a:r>
          </a:p>
        </p:txBody>
      </p:sp>
      <p:sp>
        <p:nvSpPr>
          <p:cNvPr id="10" name="editable 7">
            <a:extLst>
              <a:ext uri="{FF2B5EF4-FFF2-40B4-BE49-F238E27FC236}">
                <a16:creationId xmlns:a16="http://schemas.microsoft.com/office/drawing/2014/main" id="{6AE4C7AF-FD6E-4C5E-8F64-A9559E5AA99A}"/>
              </a:ext>
            </a:extLst>
          </p:cNvPr>
          <p:cNvSpPr txBox="1"/>
          <p:nvPr/>
        </p:nvSpPr>
        <p:spPr>
          <a:xfrm>
            <a:off x="731520" y="5540692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lang="en-GB" sz="1380">
                <a:solidFill>
                  <a:srgbClr val="F2EDE3"/>
                </a:solidFill>
                <a:latin typeface="Segoe UI" panose="020B0502040204020203" pitchFamily="34" charset="0"/>
              </a:rPr>
              <a:t>if this stayed with you, plant a memory of your own.</a:t>
            </a:r>
          </a:p>
        </p:txBody>
      </p:sp>
      <p:sp>
        <p:nvSpPr>
          <p:cNvPr id="11" name="editable 8">
            <a:hlinkClick r:id="rId4"/>
            <a:extLst>
              <a:ext uri="{FF2B5EF4-FFF2-40B4-BE49-F238E27FC236}">
                <a16:creationId xmlns:a16="http://schemas.microsoft.com/office/drawing/2014/main" id="{25117393-AFC3-4C23-927D-8BF8C899E1AD}"/>
              </a:ext>
            </a:extLst>
          </p:cNvPr>
          <p:cNvSpPr txBox="1"/>
          <p:nvPr/>
        </p:nvSpPr>
        <p:spPr>
          <a:xfrm>
            <a:off x="731520" y="5975033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lang="en-GB" sz="1320">
                <a:solidFill>
                  <a:srgbClr val="AAB3C3"/>
                </a:solidFill>
                <a:latin typeface="Segoe UI" panose="020B0502040204020203" pitchFamily="34" charset="0"/>
              </a:rPr>
              <a:t>lethe-nine.vercel.app</a:t>
            </a:r>
          </a:p>
        </p:txBody>
      </p:sp>
    </p:spTree>
    <p:extLst>
      <p:ext uri="{BB962C8B-B14F-4D97-AF65-F5344CB8AC3E}">
        <p14:creationId xmlns:p14="http://schemas.microsoft.com/office/powerpoint/2010/main" val="936939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970</Words>
  <Application>Microsoft Office PowerPoint</Application>
  <PresentationFormat>Custom</PresentationFormat>
  <Paragraphs>124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Georgia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Shiro</dc:creator>
  <cp:lastModifiedBy>Shiro</cp:lastModifiedBy>
  <cp:revision>1</cp:revision>
  <dcterms:created xsi:type="dcterms:W3CDTF">2026-10-13T05:46:42Z</dcterms:created>
  <dcterms:modified xsi:type="dcterms:W3CDTF">2026-10-13T05:46:42Z</dcterms:modified>
</cp:coreProperties>
</file>